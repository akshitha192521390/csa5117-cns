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4" r:id="rId10"/>
    <p:sldId id="265" r:id="rId11"/>
    <p:sldId id="267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the story of substitution ciphers, from a simple shift used by a Roman general to the cipher that stood unbroken for about 300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terms: plaintext, ciphertext, key. Substitution replaces symbols; transposition rearranges them. We focus on substitution because it drives the whole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Julius Caesar reportedly used a shift of 3. Show HELLO -&gt; KHOOR. Only 25 usable keys, so an attacker can try them all (brute force).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Al-Kindi, 9th century Baghdad, wrote the first known description of frequency analysis. In English, E, T, A are most frequent. One letter always maps to one letter, so the statistics survive encryption.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flattens statistics a little but is still fundamentally one fixed mapping, so determined analysts still won.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first letters: A+L=L, T+E=X, T+M=F. Each key letter gives a Caesar shift (A=0, B=1, ...). Key repeats to match the message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each step increases key space or hides statistics, and each was eventually broken by a new analytical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recap before the closing. Enigma was a rotor machine that implemented a very long polyalphabetic substitution; its weaknesses and operator errors helped Allied codebreakers.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897731"/>
            <a:ext cx="8207375" cy="8120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16894"/>
            <a:ext cx="8212138" cy="13144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2875"/>
            <a:ext cx="2057400" cy="44529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5"/>
            <a:ext cx="6019800" cy="44529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395" y="2784475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3395" y="1774825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From Caesar to Vigenère</a:t>
            </a:r>
            <a:r>
              <a:rPr lang="en-I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 </a:t>
            </a:r>
            <a:endParaRPr lang="en-I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93395" y="1258570"/>
            <a:ext cx="676211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CSA5117 -Cryptography Network Security</a:t>
            </a:r>
            <a:endParaRPr lang="en-I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572000" y="4028440"/>
            <a:ext cx="4205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Presented by:</a:t>
            </a:r>
            <a:endParaRPr lang="en-IN" altLang="en-GB"/>
          </a:p>
          <a:p>
            <a:r>
              <a:rPr lang="en-IN" altLang="en-GB"/>
              <a:t>                       Akshitha.s</a:t>
            </a:r>
            <a:endParaRPr lang="en-IN" altLang="en-GB"/>
          </a:p>
          <a:p>
            <a:r>
              <a:rPr lang="en-IN" altLang="en-GB"/>
              <a:t>                       192521390</a:t>
            </a:r>
            <a:endParaRPr lang="en-IN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422275" y="2943860"/>
            <a:ext cx="49409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i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  <a:sym typeface="+mn-ea"/>
              </a:rPr>
              <a:t>Evolution of Substitution Ciphers</a:t>
            </a:r>
            <a:endParaRPr lang="en-US" sz="2400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</a:endParaRPr>
          </a:p>
          <a:p>
            <a:endParaRPr lang="en-GB" alt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2043430" y="899160"/>
            <a:ext cx="447167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000">
                <a:latin typeface="Times New Roman" panose="02020603050405020304" charset="0"/>
                <a:cs typeface="Times New Roman" panose="02020603050405020304" charset="0"/>
              </a:rPr>
              <a:t>CO1-AT3-Technical Presentation </a:t>
            </a:r>
            <a:endParaRPr lang="en-IN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869315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Substitution vs. transposition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1851660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Cipher: a rule that turns plaintext into ciphertext using a secret key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Substitution: each letter is replaced by another symbol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Transposition: letters keep their identity but change position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Our question: how did designers hide patterns, and how did analysts find them anyway?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Caesar cipher (c. 50 BC)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09728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80744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80744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64208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64208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47672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47672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31136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31136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1460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1460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98064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98064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81528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81528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64992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64992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48456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48456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3192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3192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215384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15384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98848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498848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82312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82312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65776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65776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4924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4924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632704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32704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916168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16168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99632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83096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83096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76656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76656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050024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050024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333488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333488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616952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616952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900416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900416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8183880" y="1280160"/>
            <a:ext cx="246888" cy="24688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183880" y="128016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17190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09728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9728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380744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380744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1664208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664208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1947672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947672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2231136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2231136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251460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51460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2798064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2798064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3081528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081528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3364992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364992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648456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648456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393192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393192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4215384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215384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4498848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4498848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4782312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782312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5065776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5065776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534924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34924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632704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32704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916168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5916168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6199632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6199632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6483096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6483096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676656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76656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7050024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7050024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</a:t>
            </a:r>
            <a:endParaRPr lang="en-US" sz="1100" dirty="0"/>
          </a:p>
        </p:txBody>
      </p:sp>
      <p:sp>
        <p:nvSpPr>
          <p:cNvPr id="103" name="Shape 100"/>
          <p:cNvSpPr/>
          <p:nvPr/>
        </p:nvSpPr>
        <p:spPr>
          <a:xfrm>
            <a:off x="7333488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7333488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</a:t>
            </a:r>
            <a:endParaRPr lang="en-US" sz="1100" dirty="0"/>
          </a:p>
        </p:txBody>
      </p:sp>
      <p:sp>
        <p:nvSpPr>
          <p:cNvPr id="105" name="Shape 102"/>
          <p:cNvSpPr/>
          <p:nvPr/>
        </p:nvSpPr>
        <p:spPr>
          <a:xfrm>
            <a:off x="7616952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7616952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100" dirty="0"/>
          </a:p>
        </p:txBody>
      </p:sp>
      <p:sp>
        <p:nvSpPr>
          <p:cNvPr id="107" name="Shape 104"/>
          <p:cNvSpPr/>
          <p:nvPr/>
        </p:nvSpPr>
        <p:spPr>
          <a:xfrm>
            <a:off x="7900416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7900416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1100" dirty="0"/>
          </a:p>
        </p:txBody>
      </p:sp>
      <p:sp>
        <p:nvSpPr>
          <p:cNvPr id="109" name="Shape 106"/>
          <p:cNvSpPr/>
          <p:nvPr/>
        </p:nvSpPr>
        <p:spPr>
          <a:xfrm>
            <a:off x="8183880" y="1691640"/>
            <a:ext cx="246888" cy="24688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8183880" y="16916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11" name="Text 108"/>
          <p:cNvSpPr txBox="1"/>
          <p:nvPr/>
        </p:nvSpPr>
        <p:spPr>
          <a:xfrm>
            <a:off x="548640" y="236601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E(x) = (x + k) mod 26      HELLO  →  KHOOR  (k = 3)</a:t>
            </a:r>
            <a:endParaRPr lang="en-US" sz="1800" dirty="0"/>
          </a:p>
        </p:txBody>
      </p:sp>
      <p:sp>
        <p:nvSpPr>
          <p:cNvPr id="112" name="Text 109"/>
          <p:cNvSpPr txBox="1"/>
          <p:nvPr/>
        </p:nvSpPr>
        <p:spPr>
          <a:xfrm>
            <a:off x="548640" y="3027045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Simple, fast, easy to do by hand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Only 25 possible keys: brute force breaks it in minutes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940" y="0"/>
            <a:ext cx="6523355" cy="544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90220" y="8915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Monoalphabetic ciphers and their fatal flaw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90220" y="1692910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Use any permutation of the alphabet: 26! ≈ 4 × 10²⁶ keys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Too many to brute-force, yet still weak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Al-Kindi (9th century): count letter frequencies in the ciphertext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 English, E, T, A, O are common, so the most frequent ciphertext letters likely stand for them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Lesson: a big key space does not guarantee security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231076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en-US" sz="2800" b="1" dirty="0">
              <a:solidFill>
                <a:srgbClr val="1B2A41"/>
              </a:solidFill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5460" y="93599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Fighting frequency analysis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05460" y="1729105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Homophonic substitution: several symbols for common letters</a:t>
            </a:r>
            <a:endParaRPr lang="en-US" sz="1600" dirty="0">
              <a:solidFill>
                <a:srgbClr val="2230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Nomenclators: codebooks for names and common words added to a cipher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Polygraphic ciphers: substitute letter pairs, e.g. Playfair (1854)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Common idea: reduce how clearly letter statistics show through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Next step: stop using one alphabet at all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29690" y="297465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/>
          </a:p>
        </p:txBody>
      </p:sp>
      <p:sp>
        <p:nvSpPr>
          <p:cNvPr id="6" name="Text Box 5"/>
          <p:cNvSpPr txBox="1"/>
          <p:nvPr/>
        </p:nvSpPr>
        <p:spPr>
          <a:xfrm>
            <a:off x="445135" y="2794000"/>
            <a:ext cx="59099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GB" sz="1600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  <a:sym typeface="+mn-ea"/>
              </a:rPr>
              <a:t>  </a:t>
            </a:r>
            <a:endParaRPr lang="en-US" altLang="en-GB" sz="1600" dirty="0">
              <a:solidFill>
                <a:srgbClr val="1B2A41"/>
              </a:solidFill>
              <a:latin typeface="Times New Roman" panose="02020603050405020304" charset="0"/>
              <a:ea typeface="Georgia" panose="02040502050405020303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1849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Times New Roman" panose="02020603050405020304" charset="0"/>
                <a:ea typeface="Georgia" panose="02040502050405020303" pitchFamily="34" charset="-122"/>
                <a:cs typeface="Times New Roman" panose="02020603050405020304" charset="0"/>
              </a:rPr>
              <a:t>How the Vigenère cipher works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Plaintext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103120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03120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633472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33472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163824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63824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694176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94176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224528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754880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285232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85232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815584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15584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345936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45936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876288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76288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406640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06640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936992" y="1371600"/>
            <a:ext cx="493776" cy="493776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36992" y="13716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</a:t>
            </a:r>
            <a:endParaRPr lang="en-US" sz="1400" b="1" dirty="0">
              <a:solidFill>
                <a:srgbClr val="2230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103120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103120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2633472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633472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163824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163824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3694176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94176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4224528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224528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4754880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54880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5285232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285232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5815584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15584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345936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45936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6876288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76288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7406640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06640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7936992" y="2286000"/>
            <a:ext cx="49377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936992" y="22860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Ciphertext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2103120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103120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2633472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633472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3163824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163824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3694176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694176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4224528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224528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4754880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754880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5285232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285232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5815584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815584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800" dirty="0"/>
          </a:p>
        </p:txBody>
      </p:sp>
      <p:sp>
        <p:nvSpPr>
          <p:cNvPr id="72" name="Shape 69"/>
          <p:cNvSpPr/>
          <p:nvPr/>
        </p:nvSpPr>
        <p:spPr>
          <a:xfrm>
            <a:off x="6345936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345936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6876288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876288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76" name="Shape 73"/>
          <p:cNvSpPr/>
          <p:nvPr/>
        </p:nvSpPr>
        <p:spPr>
          <a:xfrm>
            <a:off x="7406640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406640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7936992" y="3200400"/>
            <a:ext cx="493776" cy="4937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7936992" y="3200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800" dirty="0"/>
          </a:p>
        </p:txBody>
      </p:sp>
      <p:sp>
        <p:nvSpPr>
          <p:cNvPr id="80" name="Text 7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 letter = (plain + key) mod 26     key: LEMON, repeated</a:t>
            </a:r>
            <a:endParaRPr lang="en-US" sz="1500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0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5460" y="105156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800" dirty="0">
                <a:latin typeface="Times New Roman" panose="02020603050405020304" charset="0"/>
                <a:cs typeface="Times New Roman" panose="02020603050405020304" charset="0"/>
              </a:rPr>
              <a:t>Comparing different methods</a:t>
            </a:r>
            <a:endParaRPr lang="en-IN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72110" y="1908175"/>
          <a:ext cx="7254875" cy="2190115"/>
        </p:xfrm>
        <a:graphic>
          <a:graphicData uri="http://schemas.openxmlformats.org/drawingml/2006/table">
            <a:tbl>
              <a:tblPr/>
              <a:tblGrid>
                <a:gridCol w="1978660"/>
                <a:gridCol w="2308225"/>
                <a:gridCol w="296799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Cipher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space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it was broken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Caesar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shifts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Brute force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Monoalphabetic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26! ≈ 4 × 10²⁶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Frequency analysis (Al-Kindi)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Vigenère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26ⁿ for key length 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Kasiski examination, index of coincidence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9804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Timeline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7863840" cy="0"/>
          </a:xfrm>
          <a:prstGeom prst="line">
            <a:avLst/>
          </a:prstGeom>
          <a:noFill/>
          <a:ln w="31750">
            <a:solidFill>
              <a:srgbClr val="1B2A4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633472"/>
            <a:ext cx="219456" cy="219456"/>
          </a:xfrm>
          <a:prstGeom prst="ellipse">
            <a:avLst/>
          </a:prstGeom>
          <a:solidFill>
            <a:srgbClr val="0FA3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" y="155448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c. 50 BC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Caesar shift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67712" y="2633472"/>
            <a:ext cx="219456" cy="21945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91640" y="301752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9th c.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Al-Kindi: frequency analysis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30752" y="2633472"/>
            <a:ext cx="219456" cy="219456"/>
          </a:xfrm>
          <a:prstGeom prst="ellipse">
            <a:avLst/>
          </a:prstGeom>
          <a:solidFill>
            <a:srgbClr val="0FA3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54680" y="155448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1467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Alberti cipher disk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93792" y="2633472"/>
            <a:ext cx="219456" cy="21945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301752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1553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Bellaso keyword cipher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56832" y="2633472"/>
            <a:ext cx="219456" cy="219456"/>
          </a:xfrm>
          <a:prstGeom prst="ellipse">
            <a:avLst/>
          </a:prstGeom>
          <a:solidFill>
            <a:srgbClr val="0FA3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80760" y="155448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1863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Kasiski breaks it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19872" y="2633472"/>
            <a:ext cx="219456" cy="21945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43800" y="301752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1920s+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Enigma, rotor machines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77165"/>
            <a:ext cx="7410450" cy="618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4445" y="1609725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71*171"/>
  <p:tag name="TABLE_ENDDRAG_RECT" val="39*169*571*171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1935</Words>
  <Application>WPS Presentation</Application>
  <PresentationFormat>On-screen Show (16:9)</PresentationFormat>
  <Paragraphs>283</Paragraphs>
  <Slides>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Georgia</vt:lpstr>
      <vt:lpstr>Calibri</vt:lpstr>
      <vt:lpstr>Calibri</vt:lpstr>
      <vt:lpstr>Calibri</vt:lpstr>
      <vt:lpstr>Consolas</vt:lpstr>
      <vt:lpstr>Consolas</vt:lpstr>
      <vt:lpstr>Consolas</vt:lpstr>
      <vt:lpstr>Georgia</vt:lpstr>
      <vt:lpstr>Georgia</vt:lpstr>
      <vt:lpstr>Microsoft YaHei</vt:lpstr>
      <vt:lpstr>Arial Unicode MS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Caesar to Vigenère: Evolution of Substitution Ciphers</dc:title>
  <dc:creator>PptxGenJS</dc:creator>
  <dc:subject>PptxGenJS Presentation</dc:subject>
  <cp:lastModifiedBy>asksh</cp:lastModifiedBy>
  <cp:revision>6</cp:revision>
  <dcterms:created xsi:type="dcterms:W3CDTF">2026-10-08T14:43:00Z</dcterms:created>
  <dcterms:modified xsi:type="dcterms:W3CDTF">2026-10-10T02:55:52Z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3CE1405BD2BE45A99E05FFDD26474BE0_13</vt:lpwstr>
  </property>
  <property fmtid="{D5CDD505-2E9C-101B-9397-08002B2CF9AE}" pid="3" name="KSOProductBuildVer">
    <vt:lpwstr>2057-12.2.0.23206</vt:lpwstr>
  </property>
</Properties>
</file>